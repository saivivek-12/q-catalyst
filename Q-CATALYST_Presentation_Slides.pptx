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poori Sai Vivek" userId="8ad695f6ba688a4f" providerId="LiveId" clId="{8DB9192F-1FC9-4BBA-9587-DE260D409BC4}"/>
    <pc:docChg chg="custSel modSld">
      <pc:chgData name="Chepoori Sai Vivek" userId="8ad695f6ba688a4f" providerId="LiveId" clId="{8DB9192F-1FC9-4BBA-9587-DE260D409BC4}" dt="2026-10-07T02:11:04.123" v="173" actId="478"/>
      <pc:docMkLst>
        <pc:docMk/>
      </pc:docMkLst>
      <pc:sldChg chg="modSp mod">
        <pc:chgData name="Chepoori Sai Vivek" userId="8ad695f6ba688a4f" providerId="LiveId" clId="{8DB9192F-1FC9-4BBA-9587-DE260D409BC4}" dt="2026-10-07T02:09:16.752" v="172" actId="20577"/>
        <pc:sldMkLst>
          <pc:docMk/>
          <pc:sldMk cId="0" sldId="256"/>
        </pc:sldMkLst>
        <pc:spChg chg="mod">
          <ac:chgData name="Chepoori Sai Vivek" userId="8ad695f6ba688a4f" providerId="LiveId" clId="{8DB9192F-1FC9-4BBA-9587-DE260D409BC4}" dt="2026-10-07T02:09:16.752" v="172" actId="20577"/>
          <ac:spMkLst>
            <pc:docMk/>
            <pc:sldMk cId="0" sldId="256"/>
            <ac:spMk id="5" creationId="{00000000-0000-0000-0000-000000000000}"/>
          </ac:spMkLst>
        </pc:spChg>
      </pc:sldChg>
      <pc:sldChg chg="delSp modSp mod">
        <pc:chgData name="Chepoori Sai Vivek" userId="8ad695f6ba688a4f" providerId="LiveId" clId="{8DB9192F-1FC9-4BBA-9587-DE260D409BC4}" dt="2026-10-07T02:11:04.123" v="173" actId="478"/>
        <pc:sldMkLst>
          <pc:docMk/>
          <pc:sldMk cId="0" sldId="265"/>
        </pc:sldMkLst>
        <pc:spChg chg="mod">
          <ac:chgData name="Chepoori Sai Vivek" userId="8ad695f6ba688a4f" providerId="LiveId" clId="{8DB9192F-1FC9-4BBA-9587-DE260D409BC4}" dt="2026-10-06T17:31:54.881" v="134" actId="1037"/>
          <ac:spMkLst>
            <pc:docMk/>
            <pc:sldMk cId="0" sldId="265"/>
            <ac:spMk id="2" creationId="{00000000-0000-0000-0000-000000000000}"/>
          </ac:spMkLst>
        </pc:spChg>
        <pc:spChg chg="del">
          <ac:chgData name="Chepoori Sai Vivek" userId="8ad695f6ba688a4f" providerId="LiveId" clId="{8DB9192F-1FC9-4BBA-9587-DE260D409BC4}" dt="2026-10-06T17:31:24.294" v="0" actId="478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Chepoori Sai Vivek" userId="8ad695f6ba688a4f" providerId="LiveId" clId="{8DB9192F-1FC9-4BBA-9587-DE260D409BC4}" dt="2026-10-07T02:11:04.123" v="173" actId="478"/>
          <ac:spMkLst>
            <pc:docMk/>
            <pc:sldMk cId="0" sldId="265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35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Q-CATALYST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tx1"/>
                </a:solidFill>
              </a:rPr>
              <a:t>Quantum Simulation-based Catalyst Design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Finding efficient Hydrogen Evolution Reaction (HER) catalysts with the Variational Quantum Eigensolver (VQE)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Chepoori Sai Vivek  (CH.SC.U4CSE24108)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Musali Reddy Manish Reddy  (CH.SC.U4CSE24129)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3429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What is wrong today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Green hydrogen electrolysis mostly relies on platinum catalysts.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Platinum is scarce and costs about ₹25,73,000 per kg.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That cost holds back hydrogen fuel at large scale.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463040"/>
            <a:ext cx="3429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Why it is hard to fix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Classical DFT cost grows exponentially, O(2^N), for strongly correlated d-orbitals.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Trial-and-error lab work takes years and a lot of money.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We need a fast way to pre-screen candidates first.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463040"/>
            <a:ext cx="3429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What we did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Mapped active-site interactions onto a 2-qubit Hamiltonian.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Shortlisted nickel, an Earth-abundant metal at ₹1,535 per kg.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That is roughly 99.9% cheaper than platinum.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Objectives and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Objectives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Build a quantum simulation-based system to screen HER catalysts.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Write 2-qubit active-site Hamiltonians for 12 candidates: noble metals, transition metals, 2D dichalcogenides and alloys.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Run Qiskit Statevector VQE and check every result against an exact eigensolver.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Build a transparent prototype with four decision states: SHORTLIST, BORDERLINE, NOT SHORTLISTED and MODEL INCOMPLETE.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6492240" y="146304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Approach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Algorithm: VQE on the Qiskit 2.5 Statevector simulator.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Ansatz: RealAmplitudes, 2 qubits, 2 repetitions, 6 parameters θ.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Optimizer: SciPy BFGS, minimizing ⟨ψ(θ)|H|ψ(θ)⟩.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Check: VQE energy vs exact diagonalization, tolerance 1e-5 eV.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the algorithm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10881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1. Model the active site</a:t>
            </a:r>
            <a:endParaRPr lang="en-US" sz="22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Build an under-coordinated cluster or edge model using electronegativity χ, d-band center, coordination factor and local charge.</a:t>
            </a:r>
            <a:endParaRPr lang="en-US" sz="2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2. Build the qubit operator</a:t>
            </a:r>
            <a:endParaRPr lang="en-US" sz="22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Turn those parameters into a 2-qubit Hamiltonian, for both the clean and the H-adsorbed site.</a:t>
            </a:r>
            <a:endParaRPr lang="en-US" sz="2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3. Run VQE and validate</a:t>
            </a:r>
            <a:endParaRPr lang="en-US" sz="22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Optimize the RealAmplitudes circuit, then require |E_vqe − E_exact| ≤ 1e-5 eV.</a:t>
            </a:r>
            <a:endParaRPr lang="en-US" sz="2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4. Screen and decide</a:t>
            </a:r>
            <a:endParaRPr lang="en-US" sz="22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Compute ΔE_H* = E(cat+H*) − E(cat), then ΔG_H* = ΔE_H* + 0.24 eV, and assign one of the four states.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c0·II + z1·ZI + z2·IZ + zz·ZZ + xx·XX + yy·YY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Pseudocode and decision rules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223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Quantum_VQE_Screening(M, P)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IF model(M) is incomplete THEN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RETURN MODEL INCOMPLETE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END IF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H_clean = Build_Pauli_Op(M, adsorbed=False)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H_ads   = Build_Pauli_Op(M, adsorbed=True)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E_clean_vqe, E_clean_exact = Run_VQE(H_clean)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E_ads_vqe,   E_ads_exact   = Run_VQE(H_ads)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error = max(|E_vqe - E_exact|)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 IF error &gt; P.max_error THEN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RETURN BORDERLINE (validation failed)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END IF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dE = E_ads_vqe - E_clean_vqe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dG = dE + 0.24 eV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IF |dG| &lt;= 0.10 THEN RETURN SHORTLIST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ELSE IF |dG| &lt;= 0.20 THEN RETURN BORDERLINE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ELSE RETURN NOT SHORTLISTED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1371600"/>
            <a:ext cx="3566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Decision rules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Missing geometry or edge definition: MODEL INCOMPLETE.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VQE error above 1e-5 eV: BORDERLINE.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|ΔG_H*| within 0.10 eV of 0.00: SHORTLIST.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Within 0.20 eV: BORDERLINE.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Anything further out: NOT SHORTLISTED.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Complexity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Time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VQE: O(K · 2^n), with K ≈ 12–15 optimizer steps and n = 2 qubits.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Each evaluation is a 4-element matrix-vector product.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Exact diagonalization check: O(4^n), about 16 operations.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About 0.38 s per candidate; all 12 materials in under 5 s.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46304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Space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Statevector: O(2^n) = 4 complex amplitudes, 64 bytes.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Pauli operator: 6 terms (II, ZI, IZ, ZZ, XX, YY), under 1 KB.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Classical full CI needs memory that grows exponentially with the number of orbitals, so this surrogate model is far lighter.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Implementation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Tools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Python 3.12 with type hints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Qiskit 2.5: SparsePauliOp, Statevector, RealAmplitudes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SciPy 1.14: minimize with BFGS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NumPy 2.0 and Pandas 2.2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Streamlit 1.40+ and Altair 5.0 for the web app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unittest: 24 tests, all passing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146304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run_vqe(self, hamiltonian):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exact reference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hamiltonian.to_matrix()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exact = float(np.linalg.eigvalsh(H)[0].real)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statevector expectation value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objective(params):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 = self.ansatz.assign_parameters(params)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sv = Statevector(qc)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float(sv.expectation_value(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hamiltonian).real)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classical optimization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 = minimize(objective, x0, method="BFGS")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abs(float(res.fun) - exact)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SingleVqeResult(res.fun, exact, err)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6583680" cy="2950464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Catalyst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(eV)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Adsorbed (eV)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ΔG_H* (eV)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Noble metal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-1.5134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-1.6942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SHORTLIST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 metal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-1.3912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-1.6279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SHORTLIST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 metal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-1.4110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-1.6398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SHORTLIST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Noble metal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-1.4890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-1.6978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SHORTLIST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dichalcogenide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Alloy interface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457200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VQE energies for 6 of the 12 candidates. Ni lands closest to the ideal ΔG_H* of 0.00 eV. MoS2 and NiMo stay incomplete until their edge or interface geometry is defined.</a:t>
            </a:r>
            <a:endParaRPr lang="en-US" sz="1700" dirty="0"/>
          </a:p>
        </p:txBody>
      </p:sp>
      <p:pic>
        <p:nvPicPr>
          <p:cNvPr id="5" name="Image 0" descr="Sabatier volcano pl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234440"/>
            <a:ext cx="3931920" cy="2527402"/>
          </a:xfrm>
          <a:prstGeom prst="rect">
            <a:avLst/>
          </a:prstGeom>
        </p:spPr>
      </p:pic>
      <p:pic>
        <p:nvPicPr>
          <p:cNvPr id="6" name="Image 1" descr="VQE convergence tra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886200"/>
            <a:ext cx="3931920" cy="252740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What we built</a:t>
            </a:r>
            <a:endParaRPr lang="en-US" sz="22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 working quantum simulation system that pre-screens HER catalysts, so costly trial-and-error can start from a short list.</a:t>
            </a:r>
            <a:endParaRPr lang="en-US" sz="2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Main finding</a:t>
            </a:r>
            <a:endParaRPr lang="en-US" sz="22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Nickel shortlisted at ΔG_H* = +0.0033 eV, very close to the ideal 0.00 eV, at ₹1,535 per kg against ₹25,73,000 for platinum (about 99.9% cheaper).</a:t>
            </a:r>
            <a:endParaRPr lang="en-US" sz="2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Accuracy</a:t>
            </a:r>
            <a:endParaRPr lang="en-US" sz="22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VQE matched the exact eigensolver to within 1e-14 eV for every candidate.</a:t>
            </a:r>
            <a:endParaRPr lang="en-US" sz="2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Honesty about limits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MoS2, WS2 and Ni–Mo are flagged MODEL INCOMPLETE until their edge or interface geometries are specified. Future work: first-principles CASSCF Hamiltonians via Psi4 and Qiskit Nature.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60674" y="2485677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1A1A1A"/>
      </a:dk1>
      <a:lt1>
        <a:srgbClr val="FFFFFF"/>
      </a:lt1>
      <a:dk2>
        <a:srgbClr val="444444"/>
      </a:dk2>
      <a:lt2>
        <a:srgbClr val="F2F2F2"/>
      </a:lt2>
      <a:accent1>
        <a:srgbClr val="1F3A5F"/>
      </a:accent1>
      <a:accent2>
        <a:srgbClr val="555555"/>
      </a:accent2>
      <a:accent3>
        <a:srgbClr val="777777"/>
      </a:accent3>
      <a:accent4>
        <a:srgbClr val="999999"/>
      </a:accent4>
      <a:accent5>
        <a:srgbClr val="BBBBBB"/>
      </a:accent5>
      <a:accent6>
        <a:srgbClr val="DDDDDD"/>
      </a:accent6>
      <a:hlink>
        <a:srgbClr val="1F3A5F"/>
      </a:hlink>
      <a:folHlink>
        <a:srgbClr val="555555"/>
      </a:folHlink>
    </a:clrScheme>
    <a:fontScheme name="Pla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1201</Words>
  <Application>Microsoft Office PowerPoint</Application>
  <PresentationFormat>Widescreen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Plain</vt:lpstr>
      <vt:lpstr>PowerPoint Presentation</vt:lpstr>
      <vt:lpstr>The problem</vt:lpstr>
      <vt:lpstr>Objectives and approach</vt:lpstr>
      <vt:lpstr>How the algorithm works</vt:lpstr>
      <vt:lpstr>Pseudocode and decision rules</vt:lpstr>
      <vt:lpstr>Complexity analysis</vt:lpstr>
      <vt:lpstr>Implementation</vt:lpstr>
      <vt:lpstr>Results</vt:lpstr>
      <vt:lpstr>Conclusion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Q-CATALYST</dc:title>
  <dc:subject>PptxGenJS Presentation</dc:subject>
  <dc:creator>Chepoori Sai Vivek, Musali Reddy Manish Reddy</dc:creator>
  <cp:lastModifiedBy>Chepoori Sai Vivek</cp:lastModifiedBy>
  <cp:revision>1</cp:revision>
  <dcterms:created xsi:type="dcterms:W3CDTF">2026-10-06T17:10:23Z</dcterms:created>
  <dcterms:modified xsi:type="dcterms:W3CDTF">2026-10-07T02:11:12Z</dcterms:modified>
</cp:coreProperties>
</file>